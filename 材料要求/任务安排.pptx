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60" r:id="rId4"/>
    <p:sldId id="266" r:id="rId5"/>
    <p:sldId id="261" r:id="rId6"/>
    <p:sldId id="273" r:id="rId7"/>
    <p:sldId id="268" r:id="rId8"/>
    <p:sldId id="269" r:id="rId9"/>
    <p:sldId id="270" r:id="rId10"/>
    <p:sldId id="271" r:id="rId11"/>
    <p:sldId id="272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	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227455" y="1694498"/>
            <a:ext cx="9144000" cy="1655762"/>
          </a:xfrm>
        </p:spPr>
        <p:txBody>
          <a:bodyPr/>
          <a:lstStyle/>
          <a:p>
            <a:r>
              <a:rPr lang="zh-CN" altLang="en-US" sz="6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数字媒体项目实践</a:t>
            </a:r>
            <a:r>
              <a:rPr lang="en-US" altLang="zh-CN" sz="6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6600" b="1">
              <a:highlight>
                <a:srgbClr val="00FF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177800" y="130810"/>
            <a:ext cx="2125345" cy="5016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3600" b="1">
                <a:highlight>
                  <a:srgbClr val="00FFFF"/>
                </a:highlight>
                <a:latin typeface="+mj-ea"/>
                <a:ea typeface="+mj-ea"/>
              </a:rPr>
              <a:t>内容安排</a:t>
            </a:r>
            <a:endParaRPr lang="zh-CN" altLang="en-US" sz="3600" b="1">
              <a:highlight>
                <a:srgbClr val="00FFFF"/>
              </a:highlight>
              <a:latin typeface="+mj-ea"/>
              <a:ea typeface="+mj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1315" y="2138045"/>
            <a:ext cx="11047095" cy="77660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第一周核心内容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：项目需求分析与Web素材全流程准备，目标是完成需求分析报告并掌握素材处理能力。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1315" y="3049905"/>
            <a:ext cx="1114298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第二周核心内容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：Web前端项目实现，目标是具备独立完成Web项目的全流程能力。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1315" y="1130935"/>
            <a:ext cx="11294745" cy="89154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实践周期共2周，核心目标是完成完整Web前端小项目开发，形成从素材处理到项目落地的全流程能力。</a:t>
            </a:r>
            <a:endParaRPr lang="zh-CN" altLang="en-US" sz="2000" b="1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46455" y="280670"/>
          <a:ext cx="10499090" cy="5550535"/>
        </p:xfrm>
        <a:graphic>
          <a:graphicData uri="http://schemas.openxmlformats.org/drawingml/2006/table">
            <a:tbl>
              <a:tblPr/>
              <a:tblGrid>
                <a:gridCol w="1898015"/>
                <a:gridCol w="2684145"/>
                <a:gridCol w="5916930"/>
              </a:tblGrid>
              <a:tr h="449580"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周次</a:t>
                      </a:r>
                      <a:endParaRPr lang="zh-CN" altLang="en-US" sz="2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</a:t>
                      </a:r>
                      <a:endParaRPr lang="zh-CN" altLang="en-US" sz="2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lang="zh-CN" altLang="en-US" sz="2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49580">
                <a:tc rowSpan="5"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3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第1周</a:t>
                      </a:r>
                      <a:endParaRPr lang="zh-CN" altLang="en-US" sz="32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周一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项目基础认知、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确定主题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58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周二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项目需求分析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58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周三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项目需求分析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58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周四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素材采集与初步处理、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数字图像深度处理、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音频与视频素材处理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958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周五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68580"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素材管理与优化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1330">
                <a:tc rowSpan="5"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32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</a:t>
                      </a:r>
                      <a:r>
                        <a:rPr lang="en-US" altLang="zh-CN" sz="32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32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</a:t>
                      </a:r>
                      <a:endParaRPr lang="zh-CN" altLang="en-US" sz="32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周一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项目规划与页面布局设计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周二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页面视觉设计与风格塑造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975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周三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交互设计基础与实现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342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周四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项目整合与初步测试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 vMerge="1"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周五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项目优化、完善与展示</a:t>
                      </a:r>
                      <a:endParaRPr lang="zh-CN" altLang="en-US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59163" y="1373790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仿宋" panose="02010609060101010101" charset="-122"/>
                <a:ea typeface="仿宋" panose="02010609060101010101" charset="-122"/>
              </a:rPr>
              <a:t> </a:t>
            </a:r>
            <a:endParaRPr lang="en-US" altLang="zh-CN" sz="16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34085" y="408940"/>
          <a:ext cx="10328910" cy="5699760"/>
        </p:xfrm>
        <a:graphic>
          <a:graphicData uri="http://schemas.openxmlformats.org/drawingml/2006/table">
            <a:tbl>
              <a:tblPr/>
              <a:tblGrid>
                <a:gridCol w="1925955"/>
                <a:gridCol w="7073265"/>
                <a:gridCol w="1329690"/>
              </a:tblGrid>
              <a:tr h="12338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课堂表现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认真参加每次实训，按时、按要求完成每阶段的互评任务。至少考查出勤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次。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1600" b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989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项目成果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功能完整性：项目是否实现了所有预定的功能，且功能运行正常。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用户体验：项目是否提供了良好的用户体验，包括页面加载速度、交互友好性等。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设计美感：项目的视觉设计是否符合现代审美标准，色彩搭配、布局合理性等。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1600" b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38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课程答辩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答辩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PPT 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撰写格式符合规范要求，对项目设计开发过程叙述思路清晰、重点突出，回答问题概念清楚，逻辑性强；回答准确。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1600" b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31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课程设计报告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按检查标准细则，评价课程总结报告，要求报告内容完整，包括项目需求分析、设计方案、实现过程、总结反思等。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1600" b="1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177800" y="130810"/>
            <a:ext cx="2125345" cy="5016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3600" b="1">
                <a:highlight>
                  <a:srgbClr val="00FFFF"/>
                </a:highlight>
                <a:latin typeface="+mj-ea"/>
                <a:ea typeface="+mj-ea"/>
              </a:rPr>
              <a:t>课程</a:t>
            </a:r>
            <a:r>
              <a:rPr lang="zh-CN" altLang="en-US" sz="3600" b="1">
                <a:highlight>
                  <a:srgbClr val="00FFFF"/>
                </a:highlight>
                <a:latin typeface="+mj-ea"/>
                <a:ea typeface="+mj-ea"/>
              </a:rPr>
              <a:t>考核</a:t>
            </a:r>
            <a:endParaRPr lang="zh-CN" altLang="en-US" sz="3600" b="1">
              <a:highlight>
                <a:srgbClr val="00FFFF"/>
              </a:highlight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177800" y="130810"/>
            <a:ext cx="2125345" cy="5016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3600" b="1">
                <a:highlight>
                  <a:srgbClr val="00FFFF"/>
                </a:highlight>
                <a:latin typeface="+mj-ea"/>
                <a:ea typeface="+mj-ea"/>
              </a:rPr>
              <a:t>提交</a:t>
            </a:r>
            <a:r>
              <a:rPr lang="zh-CN" altLang="en-US" sz="3600" b="1">
                <a:highlight>
                  <a:srgbClr val="00FFFF"/>
                </a:highlight>
                <a:latin typeface="+mj-ea"/>
                <a:ea typeface="+mj-ea"/>
              </a:rPr>
              <a:t>形式</a:t>
            </a:r>
            <a:endParaRPr lang="zh-CN" altLang="en-US" sz="3600" b="1">
              <a:highlight>
                <a:srgbClr val="00FFFF"/>
              </a:highlight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675" y="945515"/>
            <a:ext cx="1189990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1</a:t>
            </a:r>
            <a:r>
              <a:rPr lang="zh-CN" altLang="en-US" sz="3200" b="1"/>
              <a:t>、小组：</a:t>
            </a:r>
            <a:r>
              <a:rPr lang="en-US" altLang="zh-CN" sz="3200" b="1"/>
              <a:t>3</a:t>
            </a:r>
            <a:r>
              <a:rPr lang="zh-CN" altLang="en-US" sz="3200" b="1"/>
              <a:t>人一组，不超过</a:t>
            </a:r>
            <a:r>
              <a:rPr lang="en-US" altLang="zh-CN" sz="3200" b="1"/>
              <a:t>3</a:t>
            </a:r>
            <a:r>
              <a:rPr lang="zh-CN" altLang="en-US" sz="3200" b="1"/>
              <a:t>人</a:t>
            </a:r>
            <a:endParaRPr lang="zh-CN" altLang="en-US" sz="3200" b="1"/>
          </a:p>
          <a:p>
            <a:r>
              <a:rPr lang="en-US" altLang="zh-CN" sz="3200" b="1"/>
              <a:t>2</a:t>
            </a:r>
            <a:r>
              <a:rPr lang="zh-CN" altLang="en-US" sz="3200" b="1"/>
              <a:t>、完整的前端项目（不低于</a:t>
            </a:r>
            <a:r>
              <a:rPr lang="en-US" altLang="zh-CN" sz="3200" b="1"/>
              <a:t>7~8</a:t>
            </a:r>
            <a:r>
              <a:rPr lang="zh-CN" altLang="en-US" sz="3200" b="1"/>
              <a:t>个页面</a:t>
            </a:r>
            <a:r>
              <a:rPr lang="en-US" altLang="zh-CN" sz="3200" b="1"/>
              <a:t>)</a:t>
            </a:r>
            <a:endParaRPr lang="en-US" altLang="zh-CN" sz="3200" b="1"/>
          </a:p>
          <a:p>
            <a:r>
              <a:rPr lang="en-US" altLang="zh-CN" sz="3200" b="1"/>
              <a:t>3</a:t>
            </a:r>
            <a:r>
              <a:rPr lang="zh-CN" altLang="en-US" sz="3200" b="1"/>
              <a:t>、智慧树提交：</a:t>
            </a:r>
            <a:endParaRPr lang="zh-CN" altLang="en-US" sz="3200" b="1"/>
          </a:p>
          <a:p>
            <a:pPr marL="514350" indent="-514350">
              <a:buFont typeface="+mj-ea"/>
              <a:buAutoNum type="circleNumDbPlain"/>
            </a:pPr>
            <a:r>
              <a:rPr lang="zh-CN" altLang="en-US" sz="3200" b="1"/>
              <a:t>期末考查个人版（提交个人版课程设计报告</a:t>
            </a:r>
            <a:r>
              <a:rPr lang="en-US" altLang="zh-CN" sz="3200" b="1"/>
              <a:t>)</a:t>
            </a:r>
            <a:endParaRPr lang="zh-CN" altLang="en-US" sz="3200" b="1"/>
          </a:p>
          <a:p>
            <a:pPr marL="514350" indent="-514350">
              <a:buFont typeface="+mj-ea"/>
              <a:buAutoNum type="circleNumDbPlain"/>
            </a:pPr>
            <a:r>
              <a:rPr lang="zh-CN" altLang="en-US" sz="3200" b="1"/>
              <a:t>期末考查作品（组长提交，</a:t>
            </a:r>
            <a:r>
              <a:rPr lang="en-US" altLang="zh-CN" sz="3200" b="1"/>
              <a:t>ppt(</a:t>
            </a:r>
            <a:r>
              <a:rPr lang="zh-CN" altLang="en-US" sz="3200" b="1"/>
              <a:t>需包含小组成员分工说明</a:t>
            </a:r>
            <a:r>
              <a:rPr lang="en-US" altLang="zh-CN" sz="3200" b="1"/>
              <a:t>)</a:t>
            </a:r>
            <a:r>
              <a:rPr lang="zh-CN" altLang="en-US" sz="3200" b="1"/>
              <a:t>、完整项目源文件</a:t>
            </a:r>
            <a:r>
              <a:rPr lang="en-US" altLang="zh-CN" sz="3200" b="1"/>
              <a:t>)</a:t>
            </a:r>
            <a:endParaRPr lang="en-US" altLang="zh-CN" sz="3200" b="1"/>
          </a:p>
          <a:p>
            <a:r>
              <a:rPr lang="zh-CN" altLang="en-US" sz="3200" b="1"/>
              <a:t>截至时间：</a:t>
            </a:r>
            <a:r>
              <a:rPr lang="en-US" altLang="zh-CN" sz="3200" b="1"/>
              <a:t>2026</a:t>
            </a:r>
            <a:r>
              <a:rPr lang="zh-CN" altLang="en-US" sz="3200" b="1"/>
              <a:t>年</a:t>
            </a:r>
            <a:r>
              <a:rPr lang="en-US" altLang="zh-CN" sz="3200" b="1"/>
              <a:t>1</a:t>
            </a:r>
            <a:r>
              <a:rPr lang="zh-CN" altLang="en-US" sz="3200" b="1"/>
              <a:t>月</a:t>
            </a:r>
            <a:r>
              <a:rPr lang="en-US" altLang="zh-CN" sz="3200" b="1"/>
              <a:t>16</a:t>
            </a:r>
            <a:r>
              <a:rPr lang="zh-CN" altLang="en-US" sz="3200" b="1"/>
              <a:t>号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931545"/>
            <a:ext cx="11739880" cy="5674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8115" y="247015"/>
            <a:ext cx="105784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highlight>
                  <a:srgbClr val="00FFFF"/>
                </a:highlight>
              </a:rPr>
              <a:t>https://www.sun-ada.net/home/about_intrs2.html</a:t>
            </a:r>
            <a:endParaRPr lang="en-US" altLang="zh-CN" sz="2400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6405"/>
            <a:ext cx="12113260" cy="5151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9455"/>
            <a:ext cx="12075160" cy="61385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https://www.ncda.org.cn/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7950" y="838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highlight>
                  <a:srgbClr val="00FFFF"/>
                </a:highlight>
              </a:rPr>
              <a:t>https://www.ncda.org.cn/</a:t>
            </a:r>
            <a:endParaRPr lang="en-US" altLang="zh-CN" sz="2400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87085" cy="3316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130" y="114935"/>
            <a:ext cx="6363970" cy="6269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" y="268605"/>
            <a:ext cx="4267200" cy="5707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020" y="268605"/>
            <a:ext cx="4579620" cy="5829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46685"/>
            <a:ext cx="3550920" cy="6019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.xml><?xml version="1.0" encoding="utf-8"?>
<p:tagLst xmlns:p="http://schemas.openxmlformats.org/presentationml/2006/main">
  <p:tag name="TABLE_ENDDRAG_ORIGIN_RECT" val="826*260"/>
  <p:tag name="TABLE_ENDDRAG_RECT" val="12*127*826*260"/>
</p:tagLst>
</file>

<file path=ppt/tags/tag6.xml><?xml version="1.0" encoding="utf-8"?>
<p:tagLst xmlns:p="http://schemas.openxmlformats.org/presentationml/2006/main">
  <p:tag name="TABLE_ENDDRAG_ORIGIN_RECT" val="813*448"/>
  <p:tag name="TABLE_ENDDRAG_RECT" val="73*32*813*448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WPS 演示</Application>
  <PresentationFormat>宽屏</PresentationFormat>
  <Paragraphs>140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仿宋</vt:lpstr>
      <vt:lpstr>Arial Black</vt:lpstr>
      <vt:lpstr>Arial Unicode MS</vt:lpstr>
      <vt:lpstr>黑体</vt:lpstr>
      <vt:lpstr>WPS​​</vt:lpstr>
      <vt:lpstr>	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25</cp:revision>
  <dcterms:created xsi:type="dcterms:W3CDTF">2023-07-11T07:43:00Z</dcterms:created>
  <dcterms:modified xsi:type="dcterms:W3CDTF">2026-01-05T00:17:51Z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2052-12.8.2.21549</vt:lpwstr>
  </property>
  <property fmtid="{D5CDD505-2E9C-101B-9397-08002B2CF9AE}" pid="3" name="ICV">
    <vt:lpwstr>13993626897F91E90608AD645D25FD23_42</vt:lpwstr>
  </property>
</Properties>
</file>